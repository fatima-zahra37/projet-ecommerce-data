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 (K€)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&quot;K€&quot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Paris</c:v>
                  </c:pt>
                  <c:pt idx="1">
                    <c:v>Locon</c:v>
                  </c:pt>
                  <c:pt idx="2">
                    <c:v>Vandœuvre</c:v>
                  </c:pt>
                  <c:pt idx="3">
                    <c:v>Lyon</c:v>
                  </c:pt>
                  <c:pt idx="4">
                    <c:v>Nice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0.95</c:v>
                </c:pt>
                <c:pt idx="1">
                  <c:v>0.903</c:v>
                </c:pt>
                <c:pt idx="2">
                  <c:v>0.823</c:v>
                </c:pt>
                <c:pt idx="3">
                  <c:v>0.536</c:v>
                </c:pt>
                <c:pt idx="4">
                  <c:v>0.48</c:v>
                </c:pt>
              </c:numCache>
            </c:numRef>
          </c:val>
        </c:ser>
        <c:dLbls>
          <c:numFmt formatCode="0.0&quot;K€&quot;" sourceLinked="0"/>
          <c:txPr>
            <a:bodyPr/>
            <a:lstStyle/>
            <a:p>
              <a:pPr>
                <a:defRPr b="0" i="0" strike="noStrike" sz="7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 2023</c:v>
                </c:pt>
              </c:strCache>
            </c:strRef>
          </c:tx>
          <c:spPr>
            <a:solidFill>
              <a:srgbClr val="CADCFC"/>
            </a:solidFill>
            <a:ln w="25400" cap="flat">
              <a:solidFill>
                <a:srgbClr val="CADCF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CADCFC"/>
              </a:solidFill>
              <a:ln w="9525" cap="flat">
                <a:solidFill>
                  <a:srgbClr val="CADCF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Fév</c:v>
                  </c:pt>
                  <c:pt idx="2">
                    <c:v>Mar</c:v>
                  </c:pt>
                  <c:pt idx="3">
                    <c:v>Avr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Aoû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Déc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0.379</c:v>
                </c:pt>
                <c:pt idx="1">
                  <c:v>0.273</c:v>
                </c:pt>
                <c:pt idx="2">
                  <c:v>0.282</c:v>
                </c:pt>
                <c:pt idx="3">
                  <c:v>0.743</c:v>
                </c:pt>
                <c:pt idx="4">
                  <c:v>0.642</c:v>
                </c:pt>
                <c:pt idx="5">
                  <c:v>0.447</c:v>
                </c:pt>
                <c:pt idx="6">
                  <c:v>0.385</c:v>
                </c:pt>
                <c:pt idx="7">
                  <c:v>0.863</c:v>
                </c:pt>
                <c:pt idx="8">
                  <c:v>1.169</c:v>
                </c:pt>
                <c:pt idx="9">
                  <c:v>1.094</c:v>
                </c:pt>
                <c:pt idx="10">
                  <c:v>0.622</c:v>
                </c:pt>
                <c:pt idx="11">
                  <c:v>0.907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 2024</c:v>
                </c:pt>
              </c:strCache>
            </c:strRef>
          </c:tx>
          <c:spPr>
            <a:solidFill>
              <a:srgbClr val="1E2761"/>
            </a:solidFill>
            <a:ln w="2540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Fév</c:v>
                  </c:pt>
                  <c:pt idx="2">
                    <c:v>Mar</c:v>
                  </c:pt>
                  <c:pt idx="3">
                    <c:v>Avr</c:v>
                  </c:pt>
                  <c:pt idx="4">
                    <c:v>Mai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Aoû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Déc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0.921</c:v>
                </c:pt>
                <c:pt idx="1">
                  <c:v>0.771</c:v>
                </c:pt>
                <c:pt idx="2">
                  <c:v>1.153</c:v>
                </c:pt>
                <c:pt idx="3">
                  <c:v>1.031</c:v>
                </c:pt>
                <c:pt idx="4">
                  <c:v>0.881</c:v>
                </c:pt>
                <c:pt idx="5">
                  <c:v>1.733</c:v>
                </c:pt>
                <c:pt idx="6">
                  <c:v>0.812</c:v>
                </c:pt>
                <c:pt idx="7">
                  <c:v>1.333</c:v>
                </c:pt>
                <c:pt idx="8">
                  <c:v>1.761</c:v>
                </c:pt>
                <c:pt idx="9">
                  <c:v>2.417</c:v>
                </c:pt>
                <c:pt idx="10">
                  <c:v>1.133</c:v>
                </c:pt>
                <c:pt idx="11">
                  <c:v>1.771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.0&quot;K€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6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des performances e-commerce 2023 vs 2024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— Département Women  |  TheLook Europe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Fatima-Zahra FRINDOU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Reconversion Data Analyst — Formation DATAGONG, session avril 2026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332720" y="548640"/>
            <a:ext cx="1280160" cy="1280160"/>
          </a:xfrm>
          <a:prstGeom prst="ellipse">
            <a:avLst/>
          </a:prstGeom>
          <a:solidFill>
            <a:srgbClr val="CADCFC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881360" y="1188720"/>
            <a:ext cx="640080" cy="640080"/>
          </a:xfrm>
          <a:prstGeom prst="ellipse">
            <a:avLst/>
          </a:prstGeom>
          <a:solidFill>
            <a:srgbClr val="CADCFC">
              <a:alpha val="3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Sommaire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0972800" cy="64008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76479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64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contexte métier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09728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254203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54203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24231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démarche d'analyse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00400"/>
            <a:ext cx="10972800" cy="64008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3192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3192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32004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résultats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109728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777240" y="409651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965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397764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recommandations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0972800" cy="64008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0" name="Shape 18"/>
          <p:cNvSpPr/>
          <p:nvPr/>
        </p:nvSpPr>
        <p:spPr>
          <a:xfrm>
            <a:off x="777240" y="487375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487375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475488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enseignements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contexte métier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contexte métier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Mon objectif n'était pas seulement de produire des indicateurs, mais de répondre à une question métier et de transformer les données en recommandations utiles pour la direction e-commerce. »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670048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direction e-commerce de TheLook Europe souhaite comprendre l'évolution de la performance entre 2023 et 2024 sur le marché français, département Women.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10972800" cy="10058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47288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 métier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77647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performances 2024 sont-elles meilleures que celles de 2023 ? Si oui ou non, pourquoi 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5720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l'analyse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983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Comprendre les ventes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126480" y="4983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Comprendre la marge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486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Comprendre les retours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126480" y="548640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Comprendre le comportement client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contexte métier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Nos hypothèses de départ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regarder les données, plusieurs hypothèses ont été formulées.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5486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1920240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chiffre d'affaires a progressé entre 2023 et 2024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487168"/>
            <a:ext cx="109728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2578608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5786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487168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croissance repose sur quelques marques phares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145536"/>
            <a:ext cx="10972800" cy="5486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23697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23697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145536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Certaines catégories de produits génèrent plus de retours que d'autres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803904"/>
            <a:ext cx="109728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777240" y="3895344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8953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71600" y="3803904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fidélisation client progresse dans le temps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4462272"/>
            <a:ext cx="10972800" cy="5486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" y="455371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553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4462272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existe une saisonnalité marquée dans les ventes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5394960"/>
            <a:ext cx="10972800" cy="64008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3949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hypothèses guideront l'ensemble de mon analyse et seront validées ou infirmées à partir des données.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démarche d'analyse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démarche d'analyse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0972800" cy="658368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17320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147218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Définir le périmètre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0" y="141732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• Women • 2023-2024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075688"/>
            <a:ext cx="36576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1097280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94560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📂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63040" y="224942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Collecter les données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219456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Rassembler les informations utiles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2852928"/>
            <a:ext cx="36576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971800"/>
            <a:ext cx="10972800" cy="658368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971800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63040" y="302666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Vérifier la qualité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297180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que les données sont fiables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630168"/>
            <a:ext cx="36576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097280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749040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463040" y="380390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Analyser les résultats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374904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les indicateurs et rechercher les tendances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" y="4407408"/>
            <a:ext cx="36576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10972800" cy="658368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526280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463040" y="458114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Valider les résultats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37760" y="452628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les calculs sont cohérents par une seconde méthode de calcul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2960" y="5184648"/>
            <a:ext cx="36576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303520"/>
            <a:ext cx="1097280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303520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463040" y="5358384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Aider à la décision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37760" y="5303520"/>
            <a:ext cx="6400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Construire un tableau de bord et formuler des recommandations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démarche d'analyse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données mobilisées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 de données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8720" y="1783080"/>
            <a:ext cx="3291840" cy="438912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1188720" y="1783080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51760" y="2221992"/>
            <a:ext cx="3657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188720" y="2350008"/>
            <a:ext cx="3291840" cy="438912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350008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51760" y="2788920"/>
            <a:ext cx="3657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88720" y="2916936"/>
            <a:ext cx="3291840" cy="438912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2916936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Items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3355848"/>
            <a:ext cx="36576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188720" y="3483864"/>
            <a:ext cx="3291840" cy="438912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3483864"/>
            <a:ext cx="3291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160520"/>
            <a:ext cx="52120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quatre tables permettent de relier les clients, leurs commandes et les produits achetés.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371600"/>
            <a:ext cx="5394960" cy="23774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15361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🎯 Périmètre retenu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63640" y="20116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🇫🇷 France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63640" y="24688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👗 Département Women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92608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Du 01/01/2023 au 31/12/2024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42900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périmètre volontairement ciblé afin de comparer deux années complètes sur un même segment.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846320"/>
            <a:ext cx="10972800" cy="14630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" y="4956048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1 679 lignes analysées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77240" y="5468112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 environ 0,9% de la base complète (180 464 lignes, tous pays et départements confondus)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77240" y="580644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 échantillon correspond uniquement aux transactions répondant au périmètre défini. Il garantit une analyse ciblée et cohérente.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démarche d'analyse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Contrôler les données avant de les analyser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calculer les indicateurs, la fiabilité et la conformité des données ont été vérifiées.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0972800" cy="2560320"/>
        </p:xfrm>
        <a:graphic>
          <a:graphicData uri="http://schemas.openxmlformats.org/drawingml/2006/table">
            <a:tbl>
              <a:tblPr/>
              <a:tblGrid>
                <a:gridCol w="3657600"/>
                <a:gridCol w="73152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Contrôle effectué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Valeurs manquantes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0,12%, uniquement sur la marque → impact négligeable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doublon sur les 1 679 lignes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Formats harmonisés et période conforme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des règles métier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Statut Complete retenu pour les ventes, Returned pour les retours ; les autres statuts exclus des KPI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Périmètre temporel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 01/01/2023 au 31/12/2024, conforme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2000"/>
            <a:ext cx="10972800" cy="82296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457200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les données ont été jugées suffisamment fiables pour poursuivre l'analyse et calculer les KPI.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démarche d'analyse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indicateurs suivis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KPI ont été calculés en Python, puis vérifiés directement sur la base de données avec SQL afin de garantir la fiabilité des résultats.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0972800" cy="3291840"/>
        </p:xfrm>
        <a:graphic>
          <a:graphicData uri="http://schemas.openxmlformats.org/drawingml/2006/table">
            <a:tbl>
              <a:tblPr/>
              <a:tblGrid>
                <a:gridCol w="2926080"/>
                <a:gridCol w="80467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À quoi sert-il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 d'affaires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Mesure le volume d'activité réalisé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 brute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Mesure la rentabilité des ventes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Panier moyen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Montre combien une cliente dépense en moyenne par commande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retour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Indique la part des achats retournés et peut révéler un problème produit ou une insatisfaction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réachat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Mesure la fidélité des clientes au cours de l'année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394960"/>
            <a:ext cx="10972800" cy="68580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5394960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cinq indicateurs couvrent les ventes, la rentabilité, le comportement d'achat et la fidélité des clientes.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 démarche d'analyse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tableau de bord chiffré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cinq indicateurs sont comparés entre 2023 et 2024 pour objectiver la performance.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0972800" cy="3291840"/>
        </p:xfrm>
        <a:graphic>
          <a:graphicData uri="http://schemas.openxmlformats.org/drawingml/2006/table">
            <a:tbl>
              <a:tblPr/>
              <a:tblGrid>
                <a:gridCol w="3657600"/>
                <a:gridCol w="2468880"/>
                <a:gridCol w="2468880"/>
                <a:gridCol w="2377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Évolution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Chiffre d'affaires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7 806 €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15 716 €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+101,3 %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 brute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4 075 €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8 135 €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+99,6 %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Panier moyen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80,48 €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85,41 €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+6,1 %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retour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37,9 %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-7,4 pts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réachat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+3,4 pts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5394960"/>
            <a:ext cx="10972800" cy="68580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5394960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 : les montants (€) sont exprimés en évolution %, les taux (%) en évolution en points.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 résultats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Premier constat : une croissance exceptionnelle en 2024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7315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99032"/>
            <a:ext cx="36576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+101 %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389120" y="1399032"/>
            <a:ext cx="68580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chiffre d'affaires entre 2023 et 2024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2606040" cy="7772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28600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CA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254203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+101 %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10128" y="2240280"/>
            <a:ext cx="2606040" cy="7772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1" name="Text 9"/>
          <p:cNvSpPr/>
          <p:nvPr/>
        </p:nvSpPr>
        <p:spPr>
          <a:xfrm>
            <a:off x="3310128" y="228600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Marge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10128" y="254203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+99,6 %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71616" y="2240280"/>
            <a:ext cx="2606040" cy="7772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4" name="Text 12"/>
          <p:cNvSpPr/>
          <p:nvPr/>
        </p:nvSpPr>
        <p:spPr>
          <a:xfrm>
            <a:off x="6071616" y="228600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 Panier moyen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071616" y="254203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+6,1 %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33104" y="2240280"/>
            <a:ext cx="2606040" cy="7772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7" name="Text 15"/>
          <p:cNvSpPr/>
          <p:nvPr/>
        </p:nvSpPr>
        <p:spPr>
          <a:xfrm>
            <a:off x="8833104" y="2286000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Taux de retour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833104" y="254203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-7,4 pts</a:t>
            </a:r>
            <a:endParaRPr lang="en-US" sz="1600" dirty="0"/>
          </a:p>
        </p:txBody>
      </p:sp>
      <p:pic>
        <p:nvPicPr>
          <p:cNvPr id="19" name="Image 0" descr="/home/claude/cropped/page1_ca_m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12848" y="3246120"/>
            <a:ext cx="7763256" cy="3063240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1" name="Text 18"/>
          <p:cNvSpPr/>
          <p:nvPr/>
        </p:nvSpPr>
        <p:spPr>
          <a:xfrm>
            <a:off x="777240" y="63550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Cette progression est spectaculaire… mais est-elle réellement synonyme d'une meilleure performance ?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 résultats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Comprendre les moteurs de la croissance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avoir constaté une progression de +101 %, les facteurs qui expliquent cette évolution ont été recherchés.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6766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Quels produits tirent la croissance ?</a:t>
            </a:r>
            <a:endParaRPr lang="en-US" sz="1250" dirty="0"/>
          </a:p>
        </p:txBody>
      </p:sp>
      <p:pic>
        <p:nvPicPr>
          <p:cNvPr id="7" name="Image 0" descr="/home/claude/cropped/page2_produits_marqu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6720840" cy="26883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4709160"/>
            <a:ext cx="6766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catégories les plus performantes, notamment Outerwear &amp; Coats, expliquent une partie importante de la croissance.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498080" y="1737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et quand ?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498080" y="2057400"/>
          <a:ext cx="393192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" descr=""/>
          <p:cNvGraphicFramePr/>
          <p:nvPr/>
        </p:nvGraphicFramePr>
        <p:xfrm>
          <a:off x="7498080" y="3886200"/>
          <a:ext cx="3931920" cy="1188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 7"/>
          <p:cNvSpPr/>
          <p:nvPr/>
        </p:nvSpPr>
        <p:spPr>
          <a:xfrm>
            <a:off x="7498080" y="521208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 domine ; Lyon reste sous-exploitée. Pics de saisonnalité visibles sur la courbe.</a:t>
            </a:r>
            <a:endParaRPr lang="en-US" sz="850" dirty="0"/>
          </a:p>
        </p:txBody>
      </p:sp>
      <p:sp>
        <p:nvSpPr>
          <p:cNvPr id="13" name="Shape 8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603504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croissance s'explique par une combinaison de facteurs : produits, territoires et saisonnalité.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 résultats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Retours et rentabilité : une croissance saine, des points ciblés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chiffre d'affaires progresse fortement, mais la performance doit aussi être analysée à travers la qualité des ventes.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Les retours évoluent-ils 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97510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 taux de retour baisse de 7,4 points entre 2023 et 2024 (37,9% → 30,4%) — un signal positif de satisfaction produit croissante.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Quel impact sur la marge 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6090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marge progresse de 99,6%, quasiment au même rythme que le chiffre d'affaires (+101,3%) : la croissance ne se fait pas au détriment de la rentabilité.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Où se situent les points de vigilance 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346704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Certaines catégories, comme Blazers &amp; Jackets ou Suits, affichent un taux de retour de 47 à 48% — un point d'attention malgré la tendance globale positive.</a:t>
            </a:r>
            <a:endParaRPr lang="en-US" sz="1050" dirty="0"/>
          </a:p>
        </p:txBody>
      </p:sp>
      <p:pic>
        <p:nvPicPr>
          <p:cNvPr id="12" name="Image 0" descr="/home/claude/cropped/page4_retours_fidel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3794760"/>
            <a:ext cx="6400800" cy="273660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 résultats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comportement client : une fidélisation à développer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des ventes réalisées, les clientes achètent-elles davantage et reviennent-elles plus souvent 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Le panier moyen progresse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2194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80,48 €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468880" y="2697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85,41 €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+6,1 %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794760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clientes dépensent légèrement plus par commande en 2024 — une évolution positive, mais une contribution limitée face au doublement du CA.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035040" y="17830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Le réachat progresse, mais reste faible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194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55280" y="2194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0,0 %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035040" y="2697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955280" y="2697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3,4 %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200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Évolution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5528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+3,4 pts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035040" y="379476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fidélisation progresse, mais reste encore limitée — une partie de la croissance semble davantage liée à l'augmentation du volume de commandes qu'à une fidélisation forte des clientes existantes.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892040"/>
            <a:ext cx="10972800" cy="68580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892040"/>
            <a:ext cx="10424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panier moyen n'explique pas les +101 %, qu'est-ce qui explique la croissance ? → davantage de commandes, pas des prix plus élevés.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715000"/>
            <a:ext cx="10972800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7150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par commande progresse, mais la fidélisation reste un axe d'amélioration pour rendre la croissance plus durable.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 résultats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Fiabiliser les résultats par validation croisée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de tirer des conclusions métier, la cohérence des indicateurs a été vérifiée quel que soit le mode de calcul utilisé.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0312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(calcul initial)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210312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74720" y="21031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210312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(validation locale)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0" y="2103120"/>
            <a:ext cx="274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157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17920" y="21031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210312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(validation source)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Résultats cohérents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91840" y="4251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Même périmètre appliqué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4754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Même règles métier utilisées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577840"/>
            <a:ext cx="10972800" cy="82296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5778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approches convergent vers les mêmes résultats, ce qui sécurise l'interprétation des tendances observées.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 résultats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tableau de bord comme outil de pilotage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analyses présentées reposent sur un outil interactif, disponible pour la direction afin d'explorer les données en autonomie.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30352" y="1764792"/>
            <a:ext cx="3511296" cy="1636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pic>
        <p:nvPicPr>
          <p:cNvPr id="7" name="Image 0" descr="/home/claude/cropped/page1_ca_m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3474720" cy="137069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34015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&amp; Marge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187952" y="1764792"/>
            <a:ext cx="3511296" cy="1636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pic>
        <p:nvPicPr>
          <p:cNvPr id="10" name="Image 1" descr="/home/claude/cropped/page2_produits_marqu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783080"/>
            <a:ext cx="3474720" cy="1389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206240" y="34015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&amp; Marques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30352" y="3867912"/>
            <a:ext cx="3511296" cy="1636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pic>
        <p:nvPicPr>
          <p:cNvPr id="13" name="Image 2" descr="/home/claude/cropped/page3_geograph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86200"/>
            <a:ext cx="3474720" cy="10367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8640" y="550468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Géographie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187952" y="3867912"/>
            <a:ext cx="3511296" cy="1636776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pic>
        <p:nvPicPr>
          <p:cNvPr id="16" name="Image 3" descr="/home/claude/cropped/page4_retours_fidel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3886200"/>
            <a:ext cx="3474720" cy="148558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06240" y="550468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Retours &amp; Fidélité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8321040" y="1783080"/>
            <a:ext cx="3200400" cy="42062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9" name="Text 13"/>
          <p:cNvSpPr/>
          <p:nvPr/>
        </p:nvSpPr>
        <p:spPr>
          <a:xfrm>
            <a:off x="8549640" y="1965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permet cet outil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549640" y="242316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Centraliser les indicateurs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8549640" y="320040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Comparer 2023 et 2024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8549640" y="397764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Filtrer par marque, catégorie ou période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8549640" y="475488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Faciliter la prise de décision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Les résultats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des hypothèses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sur les 5 hypothèses posées au départ, à la lumière des résultats obtenus.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0972800" cy="3291840"/>
        </p:xfrm>
        <a:graphic>
          <a:graphicData uri="http://schemas.openxmlformats.org/drawingml/2006/table">
            <a:tbl>
              <a:tblPr/>
              <a:tblGrid>
                <a:gridCol w="9326880"/>
                <a:gridCol w="16459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Hypothèse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Vérifiée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chiffre d'affaires a progressé entre 2023 et 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57A9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croissance repose sur quelques marques phares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157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Certaines catégories de produits génèrent plus de retours que d'autres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57A9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fidélisation client progresse dans le temps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57A9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existe une saisonnalité marquée dans les ventes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57A96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Les recommandations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Recommandations pour la direction e-commerce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54864" cy="384048"/>
          </a:xfrm>
          <a:prstGeom prst="rect">
            <a:avLst/>
          </a:prstGeom>
          <a:solidFill>
            <a:srgbClr val="E1575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recommandations, directement issues des résultats de l'analyse.</a:t>
            </a:r>
            <a:endParaRPr lang="en-US" sz="1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0972800" cy="2743200"/>
        </p:xfrm>
        <a:graphic>
          <a:graphicData uri="http://schemas.openxmlformats.org/drawingml/2006/table">
            <a:tbl>
              <a:tblPr/>
              <a:tblGrid>
                <a:gridCol w="3291840"/>
                <a:gridCol w="4754880"/>
                <a:gridCol w="29260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Recommandation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Pourquoi 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 attendu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🎯 Renforcer la fidélisation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Réachat encore faible (3,4%)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nombre plus important de clientes qui achètent à nouveau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📦 Réduire les retours ciblés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Certaines catégories concentrent l'essentiel des retours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Rentabilité améliorée sur ces catégories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📈 Capitaliser sur les périodes fortes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Saisonnalité identifiée (mars, juin, octobre)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optimisées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92040"/>
            <a:ext cx="10972800" cy="73152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489204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recommandations s'appuient directement sur les résultats de l'analyse et visent à transformer les données en actions concrètes.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5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Conclusion &amp; enseignements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enseignements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 à la question de départ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0972800" cy="9601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27632"/>
            <a:ext cx="10424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Oui. Les performances 2024 sont supérieures à celles de 2023 sur le périmètre étudié. Cette progression s'explique par une combinaison de facteurs : une hausse du volume d'activité, des catégories performantes et une saisonnalité favorable, tout en conservant une bonne maîtrise de la rentabilité.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Principaux enseignements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Une croissance solide, principalement portée par l'augmentation de l'activité, tandis que la fidélisation reste un levier de progression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Des points de vigilance ciblés sur certaines catégories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Une saisonnalité exploitable pour anticiper les actions commerciales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035040" y="27432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035040" y="306324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Analyse limitée au périmètre France × Women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035040" y="352044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Le suivi de la fidélisation gagnera en pertinence avec davantage d'historique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035040" y="4114800"/>
            <a:ext cx="539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0" y="443484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Élargir l'analyse à d'autres segments (pays, départements produit)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035040" y="489204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Suivre l'évolution du taux de réachat une fois le programme de fidélité lancé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5486400"/>
            <a:ext cx="10972800" cy="1005840"/>
          </a:xfrm>
          <a:prstGeom prst="rect">
            <a:avLst/>
          </a:prstGeom>
          <a:solidFill>
            <a:srgbClr val="F7F8F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Réponses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61288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2026-08-01T09:34:02Z</dcterms:created>
  <dcterms:modified xsi:type="dcterms:W3CDTF">2026-08-01T09:34:02Z</dcterms:modified>
</cp:coreProperties>
</file>