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Lignes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Shipped</c:v>
                  </c:pt>
                  <c:pt idx="1">
                    <c:v>Complete</c:v>
                  </c:pt>
                  <c:pt idx="2">
                    <c:v>Processing</c:v>
                  </c:pt>
                  <c:pt idx="3">
                    <c:v>Cancelled</c:v>
                  </c:pt>
                  <c:pt idx="4">
                    <c:v>Returned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497</c:v>
                </c:pt>
                <c:pt idx="1">
                  <c:v>425</c:v>
                </c:pt>
                <c:pt idx="2">
                  <c:v>306</c:v>
                </c:pt>
                <c:pt idx="3">
                  <c:v>240</c:v>
                </c:pt>
                <c:pt idx="4">
                  <c:v>211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Nombre de lignes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Prix de vente — n=425 lignes Complete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€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Min</c:v>
                  </c:pt>
                  <c:pt idx="1">
                    <c:v>Réf.</c:v>
                  </c:pt>
                  <c:pt idx="2">
                    <c:v>Moyenne</c:v>
                  </c:pt>
                  <c:pt idx="3">
                    <c:v>Max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1.82</c:v>
                </c:pt>
                <c:pt idx="1">
                  <c:v>36.29</c:v>
                </c:pt>
                <c:pt idx="2">
                  <c:v>55.35</c:v>
                </c:pt>
                <c:pt idx="3">
                  <c:v>903</c:v>
                </c:pt>
              </c:numCache>
            </c:numRef>
          </c:val>
        </c:ser>
        <c:dLbls>
          <c:numFmt formatCode="0&quot;€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Prix de vente (€)</a:t>
                </a:r>
              </a:p>
            </c:rich>
          </c:tx>
          <c:layout/>
          <c:overlay val="0"/>
        </c:title>
        <c:numFmt formatCode="0&quot;€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50" b="0" i="0" u="none" strike="noStrike">
                <a:solidFill>
                  <a:srgbClr val="000000"/>
                </a:solidFill>
                <a:latin typeface="Arial"/>
              </a:rPr>
              <a:t>Top 5 marques par chiffre d'affaires (2023-2024 cumulé)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(€)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€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The North Face</c:v>
                  </c:pt>
                  <c:pt idx="1">
                    <c:v>PAIGE</c:v>
                  </c:pt>
                  <c:pt idx="2">
                    <c:v>Jones New York</c:v>
                  </c:pt>
                  <c:pt idx="3">
                    <c:v>McGinn</c:v>
                  </c:pt>
                  <c:pt idx="4">
                    <c:v>Roxy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1211</c:v>
                </c:pt>
                <c:pt idx="1">
                  <c:v>801</c:v>
                </c:pt>
                <c:pt idx="2">
                  <c:v>620</c:v>
                </c:pt>
                <c:pt idx="3">
                  <c:v>480</c:v>
                </c:pt>
                <c:pt idx="4">
                  <c:v>430</c:v>
                </c:pt>
              </c:numCache>
            </c:numRef>
          </c:val>
        </c:ser>
        <c:dLbls>
          <c:numFmt formatCode="0&quot;€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Chiffre d'affaires (€)</a:t>
                </a:r>
              </a:p>
            </c:rich>
          </c:tx>
          <c:layout/>
          <c:overlay val="0"/>
        </c:title>
        <c:numFmt formatCode="0&quot;€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50" b="0" i="0" u="none" strike="noStrike">
                <a:solidFill>
                  <a:srgbClr val="000000"/>
                </a:solidFill>
                <a:latin typeface="Arial"/>
              </a:rPr>
              <a:t>CA par catégorie de produits (extrait, 22 au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(€)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€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Suits</c:v>
                  </c:pt>
                  <c:pt idx="1">
                    <c:v>Jumpsuits</c:v>
                  </c:pt>
                  <c:pt idx="2">
                    <c:v>Sweaters</c:v>
                  </c:pt>
                  <c:pt idx="3">
                    <c:v>Jeans</c:v>
                  </c:pt>
                  <c:pt idx="4">
                    <c:v>Intimates</c:v>
                  </c:pt>
                  <c:pt idx="5">
                    <c:v>Outerwear &amp; Coats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195</c:v>
                </c:pt>
                <c:pt idx="2">
                  <c:v>1050</c:v>
                </c:pt>
                <c:pt idx="3">
                  <c:v>1180</c:v>
                </c:pt>
                <c:pt idx="4">
                  <c:v>1300</c:v>
                </c:pt>
                <c:pt idx="5">
                  <c:v>3148</c:v>
                </c:pt>
              </c:numCache>
            </c:numRef>
          </c:val>
        </c:ser>
        <c:dLbls>
          <c:numFmt formatCode="0&quot;€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Chiffre d'affaires (€)</a:t>
                </a:r>
              </a:p>
            </c:rich>
          </c:tx>
          <c:layout/>
          <c:overlay val="0"/>
        </c:title>
        <c:numFmt formatCode="0&quot;€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Top 5 villes par chiffre d'affaires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(K€)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K€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Paris</c:v>
                  </c:pt>
                  <c:pt idx="1">
                    <c:v>Locon</c:v>
                  </c:pt>
                  <c:pt idx="2">
                    <c:v>Vandœuvre</c:v>
                  </c:pt>
                  <c:pt idx="3">
                    <c:v>Lyon</c:v>
                  </c:pt>
                  <c:pt idx="4">
                    <c:v>Nice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</c:v>
                </c:pt>
                <c:pt idx="1">
                  <c:v>0.903</c:v>
                </c:pt>
                <c:pt idx="2">
                  <c:v>0.823</c:v>
                </c:pt>
                <c:pt idx="3">
                  <c:v>0.536</c:v>
                </c:pt>
                <c:pt idx="4">
                  <c:v>0.48</c:v>
                </c:pt>
              </c:numCache>
            </c:numRef>
          </c:val>
        </c:ser>
        <c:dLbls>
          <c:numFmt formatCode="0.00&quot;K€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Chiffre d'affaires (K€)</a:t>
                </a:r>
              </a:p>
            </c:rich>
          </c:tx>
          <c:layout/>
          <c:overlay val="0"/>
        </c:title>
        <c:numFmt formatCode="0.0&quot;K€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CA mensuel 2023 vs 2024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2023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0.379</c:v>
                </c:pt>
                <c:pt idx="1">
                  <c:v>0.273</c:v>
                </c:pt>
                <c:pt idx="2">
                  <c:v>0.282</c:v>
                </c:pt>
                <c:pt idx="3">
                  <c:v>0.743</c:v>
                </c:pt>
                <c:pt idx="4">
                  <c:v>0.642</c:v>
                </c:pt>
                <c:pt idx="5">
                  <c:v>0.447</c:v>
                </c:pt>
                <c:pt idx="6">
                  <c:v>0.385</c:v>
                </c:pt>
                <c:pt idx="7">
                  <c:v>0.863</c:v>
                </c:pt>
                <c:pt idx="8">
                  <c:v>1.169</c:v>
                </c:pt>
                <c:pt idx="9">
                  <c:v>1.094</c:v>
                </c:pt>
                <c:pt idx="10">
                  <c:v>0.622</c:v>
                </c:pt>
                <c:pt idx="11">
                  <c:v>0.907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 2024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0.921</c:v>
                </c:pt>
                <c:pt idx="1">
                  <c:v>0.771</c:v>
                </c:pt>
                <c:pt idx="2">
                  <c:v>1.153</c:v>
                </c:pt>
                <c:pt idx="3">
                  <c:v>1.031</c:v>
                </c:pt>
                <c:pt idx="4">
                  <c:v>0.881</c:v>
                </c:pt>
                <c:pt idx="5">
                  <c:v>1.733</c:v>
                </c:pt>
                <c:pt idx="6">
                  <c:v>0.812</c:v>
                </c:pt>
                <c:pt idx="7">
                  <c:v>1.333</c:v>
                </c:pt>
                <c:pt idx="8">
                  <c:v>1.761</c:v>
                </c:pt>
                <c:pt idx="9">
                  <c:v>2.417</c:v>
                </c:pt>
                <c:pt idx="10">
                  <c:v>1.133</c:v>
                </c:pt>
                <c:pt idx="11">
                  <c:v>1.771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Chiffre d'affaires (K€)</a:t>
                </a:r>
              </a:p>
            </c:rich>
          </c:tx>
          <c:layout/>
          <c:overlay val="0"/>
        </c:title>
        <c:numFmt formatCode="0.0&quot;K€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E-commerce 2023 vs 2024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Europe — Périmètre France × Women  |  Fatima-Zahra FRINDOU  |  Formation Data Analyst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thelook_ecommerce (BigQuery)  •  Python  •  SQL  •  Power BI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Data Analyst — DATAGONG, session avril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332720" y="548640"/>
            <a:ext cx="1280160" cy="128016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1188720"/>
            <a:ext cx="640080" cy="64008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972800" cy="512064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objectifs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0972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84832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084832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&amp; méthodologie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0972800" cy="512064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06624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2706624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10972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28416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33284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validation croisée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10972800" cy="512064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50208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950208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0972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72000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572000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193792"/>
            <a:ext cx="10972800" cy="512064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93792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5193792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méthodologique &amp; conclusion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objectifs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&amp; objectifs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Data Analyst chez TheLook Europe, la direction e-commerce demande d'analyser la performance de l'activité sur un périmètre précis et de comparer 2023 à 2024 — construire une chaîne d'analyse complète, de la donnée brute jusqu'au tableau de bord décisionnel.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212080" cy="25146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84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livrables concrets de ce projet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chiffré de la croissance 2023→2024, avec ses moteurs identifiés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46227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Power BI 4 pages pour piloter en autonomie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99262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49926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recommandations priorisées avec objectifs chiffrés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52297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552297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méthodologie reproductible pour les prochains segments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35040" y="17830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172821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un périmètre métier clair : France × Women × 2023-2024, avec les conventions de calcul associées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4414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441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2386584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Réaliser une EDA rigoureuse en Python sur 1 679 lignes : qualité des données, dynamiques de CA, marge et retours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0998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3099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044952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valider 5 KPI robustes, croisés via deux méthodes SQL indépendantes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75818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3758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70332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démarche traçable et reproductible : dépôt Git organisé, choix documentés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441655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4416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36168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dashboard Power BI de 4 pages interactives, orienté décision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507492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502005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démarche de data storytelling : insights explicités, recommandations à l'appui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&amp; méthodologie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&amp; méthodologie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toute analyse, un périmètre précis et une méthode de travail claire ont été définis.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212080" cy="30175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Sous-périmètre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715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998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30998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01/01/2023 → 31/12/2024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4838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4838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bigquery-public-data.thelook_ecommerce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794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volontairement restreint (un pays, un segment, deux années) pour une analyse fine et actionnable, représentative du reste du catalogue.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détail des conventions de calcul (vente, retour...) est présenté dans la slide suivante.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— le rôle de chaque étape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214884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0956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15+ commits, du cadrage au dashboard final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269748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Python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09560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 de 1 679 lignes, premières tendances 2023 vs 2024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24612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SQL (DuckDB)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09560" y="32461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 des 5 KPIs en local pour confirmer Python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7947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09560" y="37947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pages pour explorer les données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43434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09560" y="4343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sur la source de vérité cloud, validation finale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métier &amp; qualité des données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contient 5 statuts différents par ligne — ils sont d'abord traduits en règles métier claires, avant tout calcul.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posées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30352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1031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finalisée (statut Complete)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5303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00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6700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renvoyée par la cliente (statut Returned)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530352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369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retour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23697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retours ÷ (ventes + retours)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5303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0390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fidèle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380390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2 commandes finalisées sur une même année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des 1 679 lignes selon ces statuts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035040" y="205740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03504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affichés en anglais : valeurs brutes de la colonne source, non traduites.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" y="4617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définitions posées, la fiabilité du fichier source est vérifiée avant tout calcul :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10972800" cy="10515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510235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 doublon détecté sur les 1 679 lignes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77240" y="541324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valeurs manquantes sur le champ « marque » — colonne brand (0,12%)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77240" y="572414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32,5% de dates d'expédition manquantes — commandes non encore expédiées à la date d'extraction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Distribution prix &amp; coûts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les données validées, la structure des prix et coûts est explorée sur les 425 lignes de ventes (statut Complete).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916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691640"/>
            <a:ext cx="5257800" cy="23774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 brute par ligne vendue (n=425)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77824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28,73 €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922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(médiane)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782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18,47 €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9224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7782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1,07 €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9224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77824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465,95 €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 : quelques articles premium tirent les prix vers le haut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6177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moitié des lignes se vendent en dessous de 36€, contre une moyenne de 55€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49834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Quelques lignes premium, jusqu'à 903€, tirent la moyenne vers le haut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3492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 prix de référence retenu pour communiquer avec la direction est donc de 36€, plus représentatif que la moyenne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85216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à savoir quelles marques et quelles catégories de produits concentrent ces pièces premium.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Marques &amp; catégories dominantes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Puisque des pièces premium tirent les prix vers le haut, les marques et catégories de produits qui les portent sont analysées.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916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691640"/>
          <a:ext cx="5257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 : un catalogue composé d'un grand nombre de marques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46177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658 marques pour 1 573 produits, soit 2 à 3 références par marque en moyenne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49834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 Top 10 des marques ne représente que ~31% du chiffre d'affaires total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53492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Aucune marque ne domine largement les ventes, contrairement à un catalogue concentré sur quelques références phares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85216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même chiffre d'affaires peut aussi se lire par ville et par mois : c'est l'objet de la slide suivante.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Géographie &amp; saisonnalité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page complète l'analyse par une lecture géographique et temporelle des ventes.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916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691640"/>
          <a:ext cx="5257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457200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ville de Lyon, 2e ville de France par la population, n'occupe que la 4e position pour le chiffre d'affaires (536€)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490118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Tous les mois de 2024 dépassent leur équivalent 2023, sans exception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562356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Sécuriser les stocks de la catégorie Outerwear &amp; Coats dès septembre, en anticipation du pic d'octobre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595274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Animer le creux de février par des actions promotionnelles pour lisser la saisonnalité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validation croisée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consolidés — chiffrer la progression de l'activité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l'exploration détaillée (prix, marques, géographie, saisonnalité), les 5 indicateurs demandés par la direction sont synthétisés ici.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972800" cy="219456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Python↔SQL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7 806 €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15 716 €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+101,3 %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brute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4 075 €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8 135 €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+99,6 %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Panier moyen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80,48 €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85,41 €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+6,1 %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retour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-7,4 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réachat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+3,4 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60520"/>
            <a:ext cx="10972800" cy="14173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2976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croisée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4663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Les valeurs du tableau ci-dessus, recalculées indépendamment en Python et en SQL (DuckDB), sont strictement identiques aux arrondis près.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760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KPIs, une fois validés, deviennent le socle du dashboard Power BI exploré ensuite.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Power BI — CA &amp; Marge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208" y="1207008"/>
            <a:ext cx="974750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6" name="Image 0" descr="/home/claude/cropped/page1_ca_m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969264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828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 cartes KPI avec évolution vs N-1 (CA, Marge, Panier moyen, Taux de marge)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5102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Courbe d'évolution mensuelle du CA, 2023 vs 2024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53766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Comparatif CA / Marge par année, segment interactif par année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5705856"/>
            <a:ext cx="10972800" cy="43891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705856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vue met en évidence une croissance forte et équilibrée entre chiffre d'affaires et marge, sans dégradation de la rentabilité.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Power BI — Produits &amp; Marques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208" y="1207008"/>
            <a:ext cx="974750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6" name="Image 0" descr="/home/claude/cropped/page2_produits_marq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969264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828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 10 marques par chiffre d'affaires (sur 658 marques au total)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5102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 8 catégories de produits par chiffre d'affaires, en proportion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53766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Tableau détaillé marque × catégorie, code couleur sur le taux de marge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5705856"/>
            <a:ext cx="10972800" cy="43891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705856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vue met en évidence un catalogue fragmenté, sans marque ni catégorie dominante, avec des écarts de rentabilité identifiables.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Power BI — Géographie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208" y="1207008"/>
            <a:ext cx="9747504" cy="294676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6" name="Image 0" descr="/home/claude/cropped/page3_geograph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9692640" cy="28919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29093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 10 villes par chiffre d'affaires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456525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Tableau détaillé par ville et région (CA, marge, nb clients, panier moyen)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4894438"/>
            <a:ext cx="10972800" cy="43891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894438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vue met en évidence un potentiel géographique inexploité, notamment sur la ville de Lyon, malgré sa taille démographique.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Power BI — Retours &amp; Fidélité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208" y="1207008"/>
            <a:ext cx="974750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6" name="Image 0" descr="/home/claude/cropped/page4_retours_fide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969264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828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cartes KPI : Taux de retour et Taux de réachat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5102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Évolution mensuelle du taux de retour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53766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 catégories par taux de retour (filtré ≥10 lignes)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56509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Nuage de points : CA ↔ taux de retour par catégorie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980176"/>
            <a:ext cx="10972800" cy="43891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80176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vue met en évidence une amélioration continue de la qualité produit et une fidélisation encore naissante mais en progression.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— Relation CA ↔ Taux de retour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de points par catégorie de produits (filtré : volume ≥ 10 lignes pour fiabilité statistique).</a:t>
            </a:r>
            <a:endParaRPr lang="en-US" sz="1200" dirty="0"/>
          </a:p>
        </p:txBody>
      </p:sp>
      <p:pic>
        <p:nvPicPr>
          <p:cNvPr id="6" name="Image 0" descr="/home/claude/cropped/scatter_ca_re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58952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737360"/>
            <a:ext cx="3200400" cy="37490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1874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groupes de catégories à traiter différemment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49640" y="2514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Fort volume, peu de retours, à l'image des catégories Outerwear &amp; Coats, Jeans ou Intimates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4964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Faible volume, fort taux de retour, comme les catégories Blazers &amp; Jackets, Suits ou Swim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496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49640" y="44622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Revoir le guide des tailles et les descriptifs produit sur le second groupe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49640" y="496519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Objectif : réduire les retours et libérer leur potentiel de croissance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1097280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623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vue met en évidence que les catégories les plus vendues sont aussi celles qui posent le moins de problème de retour, et inversement.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pour la direction e-commerce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49240" cy="24231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444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264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Renforcer la fidélisation client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3852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sur l'ensemble du périmètre France × Women, le taux de réachat reste faible (3,4% en 2024, contre 0% en 2023).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Lancer un programme de fidélité, objectif &gt;10% en 2025.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Proposer un accès à des ventes privées dès un certain seuil de commandes ou de montant cumulé.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349240" cy="24231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73368" y="1444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14264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Revoir le guide des tailles sur les catégories à risque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93852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les catégories Blazers &amp; Jackets, Suits et Swim cumulent faible volume et fort taux de retour.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Proposer un référentiel de tailles européen et américain.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Questionnaire guidé (coupe ajustée/oversize) en cas d'hésitation.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Essayage virtuel par caméra pour visualiser coupe et couleur avant achat.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349240" cy="24231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03250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 et reproduire les pics de croissance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54456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mars, juin et octobre 2024 ont connu des croissances de +280% à +300% vs 2023.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Identifier les actions marketing ou produit à l'origine de ces pics.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Planifier des opérations similaires aux mêmes périodes en 2025.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349240" cy="24231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3368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403250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Développer le marché de la ville de Lyon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54456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2e ville de France par la population, mais seulement 4e position au chiffre d'affaires.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51663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Lancer une campagne marketing ciblée sur la ville de Lyon.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Questionnaire de satisfaction post-achat donnant -20% sur la prochaine collection.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méthodologique &amp;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Rigueur méthodologique — écarts identifiés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384048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écarts méthodologiques ont été identifiés et documentés au cours de l'analyse — cause et impact sur les résultats.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Écart de volume de données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94560" y="205740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 BigQuery reconstruite retourne 1 251 lignes, contre 1 679 dans le fichier CSV fourni par l'équipe pédagogique.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706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94560" y="277063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requête ne conserve que les lignes ayant une correspondance complète dans les 4 tables (users, orders, order_items, products). Le fichier fourni semble inclure des lignes supplémentaires, avec des informations parfois incomplètes, que ma méthode plus stricte ne conserve pas.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4838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94560" y="3483864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montants totaux (chiffre d'affaires, marge) sont plus bas dans ma version, proportionnellement au nombre de lignes en moins ; les ratios (panier moyen, taux de retour) restent stables.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2885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 de nommage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7000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94560" y="4700016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 de faits garde ses noms de colonnes en anglais ; les tables que j'ai construites (dates, produits, clients) sont en français.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321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532180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brutes gardent leurs noms d'origine pour rester traçables jusqu'à la source ; les tables construites sont en français pour rester lisibles par un public non technique.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résumé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691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croissance forte et rentable entre 2023 et 2024 (+101% de chiffre d'affaires, +100% de marge)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leviers d'action identifiés et chiffrés : fidélisation, ajustement des tailles, saisonnalité, développement géographique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méthodologie validée à 3 niveaux (Python, SQL, Power BI)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Réponses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070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074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 : github.com/Fatima-Zahra37/projet-ecommerce-data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54589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Google Cloud / BigQuery : dataset bigquery-public-data.thelook_ecommerce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584301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(EDA) • DuckDB &amp; BigQuery (SQL) • Power BI (Dashboard 4 pages)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32720" y="548640"/>
            <a:ext cx="1280160" cy="128016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0" y="1188720"/>
            <a:ext cx="640080" cy="64008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2026-07-20T16:06:42Z</dcterms:created>
  <dcterms:modified xsi:type="dcterms:W3CDTF">2026-07-20T16:06:42Z</dcterms:modified>
</cp:coreProperties>
</file>